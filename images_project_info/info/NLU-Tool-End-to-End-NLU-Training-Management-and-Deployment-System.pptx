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52" r:id="rId1"/>
  </p:sldMasterIdLst>
  <p:notesMasterIdLst>
    <p:notesMasterId r:id="rId32"/>
  </p:notesMasterIdLst>
  <p:sldIdLst>
    <p:sldId id="256" r:id="rId2"/>
    <p:sldId id="257" r:id="rId3"/>
    <p:sldId id="278" r:id="rId4"/>
    <p:sldId id="286" r:id="rId5"/>
    <p:sldId id="287" r:id="rId6"/>
    <p:sldId id="288" r:id="rId7"/>
    <p:sldId id="282" r:id="rId8"/>
    <p:sldId id="258" r:id="rId9"/>
    <p:sldId id="274" r:id="rId10"/>
    <p:sldId id="259" r:id="rId11"/>
    <p:sldId id="260" r:id="rId12"/>
    <p:sldId id="261" r:id="rId13"/>
    <p:sldId id="280" r:id="rId14"/>
    <p:sldId id="273" r:id="rId15"/>
    <p:sldId id="281" r:id="rId16"/>
    <p:sldId id="262" r:id="rId17"/>
    <p:sldId id="283" r:id="rId18"/>
    <p:sldId id="263" r:id="rId19"/>
    <p:sldId id="264" r:id="rId20"/>
    <p:sldId id="275" r:id="rId21"/>
    <p:sldId id="277" r:id="rId22"/>
    <p:sldId id="284" r:id="rId23"/>
    <p:sldId id="266" r:id="rId24"/>
    <p:sldId id="272" r:id="rId25"/>
    <p:sldId id="271" r:id="rId26"/>
    <p:sldId id="270" r:id="rId27"/>
    <p:sldId id="269" r:id="rId28"/>
    <p:sldId id="268" r:id="rId29"/>
    <p:sldId id="267" r:id="rId30"/>
    <p:sldId id="289" r:id="rId31"/>
  </p:sldIdLst>
  <p:sldSz cx="14630400" cy="8229600"/>
  <p:notesSz cx="8229600" cy="14630400"/>
  <p:embeddedFontLst>
    <p:embeddedFont>
      <p:font typeface="Arial Black" panose="020B0A04020102020204" pitchFamily="34" charset="0"/>
      <p:bold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Inter" panose="020B0604020202020204" charset="0"/>
      <p:bold r:id="rId38"/>
    </p:embeddedFont>
    <p:embeddedFont>
      <p:font typeface="Wingdings 3" panose="05040102010807070707" pitchFamily="18" charset="2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5033" autoAdjust="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262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4547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087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6298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197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917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200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4081276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3755137"/>
            <a:ext cx="4081274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7320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118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1360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257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1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2316481" y="4525409"/>
            <a:ext cx="8735579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64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64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86762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1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533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6258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654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643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473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465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815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76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373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6908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983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1261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51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969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6122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9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1" y="3203623"/>
            <a:ext cx="4842803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3081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60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  <p:sldLayoutId id="2147483870" r:id="rId18"/>
    <p:sldLayoutId id="2147483871" r:id="rId19"/>
    <p:sldLayoutId id="2147483872" r:id="rId20"/>
    <p:sldLayoutId id="2147483873" r:id="rId21"/>
    <p:sldLayoutId id="2147483874" r:id="rId22"/>
    <p:sldLayoutId id="2147483875" r:id="rId23"/>
    <p:sldLayoutId id="2147483876" r:id="rId24"/>
    <p:sldLayoutId id="2147483877" r:id="rId25"/>
    <p:sldLayoutId id="2147483878" r:id="rId26"/>
    <p:sldLayoutId id="2147483879" r:id="rId27"/>
    <p:sldLayoutId id="2147483880" r:id="rId28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8.png"/><Relationship Id="rId3" Type="http://schemas.openxmlformats.org/officeDocument/2006/relationships/tags" Target="../tags/tag3.xml"/><Relationship Id="rId21" Type="http://schemas.openxmlformats.org/officeDocument/2006/relationships/image" Target="../media/image41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9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5.xml"/><Relationship Id="rId20" Type="http://schemas.openxmlformats.org/officeDocument/2006/relationships/image" Target="../media/image4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44.jp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43.svg"/><Relationship Id="rId10" Type="http://schemas.openxmlformats.org/officeDocument/2006/relationships/tags" Target="../tags/tag10.xml"/><Relationship Id="rId19" Type="http://schemas.openxmlformats.org/officeDocument/2006/relationships/image" Target="../media/image39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49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48.png"/><Relationship Id="rId2" Type="http://schemas.openxmlformats.org/officeDocument/2006/relationships/tags" Target="../tags/tag17.xml"/><Relationship Id="rId16" Type="http://schemas.openxmlformats.org/officeDocument/2006/relationships/image" Target="../media/image47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46.png"/><Relationship Id="rId10" Type="http://schemas.openxmlformats.org/officeDocument/2006/relationships/tags" Target="../tags/tag25.xml"/><Relationship Id="rId19" Type="http://schemas.openxmlformats.org/officeDocument/2006/relationships/image" Target="../media/image50.jpg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70740" y="2565798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NLU Tool – End-to-End NLU Training, Management &amp; Deployment System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70740" y="4979194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Complete workflow overview featuring model training, active learning, and automated deployment pipeline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18C6D-E7AD-F3EE-A973-3042DBD3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3660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2817" y="448003"/>
            <a:ext cx="7818120" cy="11837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Comprehensive NLU Platform Overview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7768" y="1909137"/>
            <a:ext cx="2841188" cy="3550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C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Core Capabilities</a:t>
            </a:r>
            <a:endParaRPr lang="en-US" sz="2200" dirty="0">
              <a:solidFill>
                <a:srgbClr val="FFC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2940" y="2467009"/>
            <a:ext cx="3678079" cy="1818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NLU Tool provides an enterprise-grade platform for building, managing, and deploying natural language understanding models at scale. From initial dataset import to production deployment, every phase is streamlined.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2816" y="4785734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Secure authentication with workspace isolation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" y="5556964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Multi-format dataset import and intelligent annotation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2939" y="6361212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Active learning for continuous model improvement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" y="7184946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Centralized admin dashboard for real-time monitoring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43949" y="1906317"/>
            <a:ext cx="2975015" cy="3550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C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Technical Foundation</a:t>
            </a:r>
          </a:p>
        </p:txBody>
      </p:sp>
      <p:sp>
        <p:nvSpPr>
          <p:cNvPr id="11" name="Text 8"/>
          <p:cNvSpPr/>
          <p:nvPr/>
        </p:nvSpPr>
        <p:spPr>
          <a:xfrm>
            <a:off x="4943951" y="2467009"/>
            <a:ext cx="3678079" cy="2029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Built on modern architecture principles, the platform ensures reliability and scalability for teams managing multiple NLU models across different projects and environments.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43950" y="4569794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Comprehensive model metadata and version tracking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43949" y="5213414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Docker-based deployment pipeline for consistency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43951" y="5942163"/>
            <a:ext cx="3678079" cy="606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Automated health checks and monitoring</a:t>
            </a:r>
            <a:endParaRPr lang="en-US" sz="1600" dirty="0"/>
          </a:p>
        </p:txBody>
      </p:sp>
      <p:pic>
        <p:nvPicPr>
          <p:cNvPr id="20" name="Picture 19" descr="A screenshot of a computer">
            <a:extLst>
              <a:ext uri="{FF2B5EF4-FFF2-40B4-BE49-F238E27FC236}">
                <a16:creationId xmlns:a16="http://schemas.microsoft.com/office/drawing/2014/main" id="{2A1529C7-5EB6-DC40-7AEE-0DA97C41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030" y="2517533"/>
            <a:ext cx="6008372" cy="53917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A486FB-BD1D-F097-DAD6-E2A30EF87343}"/>
              </a:ext>
            </a:extLst>
          </p:cNvPr>
          <p:cNvSpPr txBox="1"/>
          <p:nvPr/>
        </p:nvSpPr>
        <p:spPr>
          <a:xfrm>
            <a:off x="0" y="456707"/>
            <a:ext cx="7315200" cy="666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 Project Overview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DD4B7C-FA08-8E24-5900-30388A07C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840"/>
            <a:ext cx="14630400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6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830" y="952619"/>
            <a:ext cx="13164741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55690" y="593887"/>
            <a:ext cx="8585200" cy="1132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Platform Technology &amp; ML Core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2751" y="1739900"/>
            <a:ext cx="13164820" cy="9709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+mn-ea"/>
                <a:ea typeface="Arimo" panose="020B0604020202020204" pitchFamily="34" charset="-122"/>
                <a:cs typeface="+mn-ea"/>
              </a:rPr>
              <a:t>Our NLU platform leverages a robust combination of modern technologies and advanced machine learning techniques to deliver an efficient, scalable, and intelligent system.</a:t>
            </a:r>
            <a:endParaRPr lang="en-US" sz="2000" dirty="0">
              <a:latin typeface="+mn-ea"/>
              <a:cs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167" y="2993609"/>
            <a:ext cx="4248785" cy="4642104"/>
          </a:xfrm>
          <a:prstGeom prst="roundRect">
            <a:avLst>
              <a:gd name="adj" fmla="val 265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09970" y="3332321"/>
            <a:ext cx="91440" cy="4132898"/>
          </a:xfrm>
          <a:prstGeom prst="roundRect">
            <a:avLst>
              <a:gd name="adj" fmla="val 34348"/>
            </a:avLst>
          </a:prstGeom>
          <a:solidFill>
            <a:srgbClr val="8061FF"/>
          </a:solidFill>
        </p:spPr>
      </p:sp>
      <p:sp>
        <p:nvSpPr>
          <p:cNvPr id="7" name="Text 5"/>
          <p:cNvSpPr/>
          <p:nvPr/>
        </p:nvSpPr>
        <p:spPr>
          <a:xfrm>
            <a:off x="1072071" y="3259684"/>
            <a:ext cx="2535555" cy="435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Dynamic Frontend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5353" y="3916433"/>
            <a:ext cx="3716020" cy="773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HTML5-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Markup structure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2071" y="4399319"/>
            <a:ext cx="3716020" cy="11238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</a:rPr>
              <a:t>CSS3,CSS Grid and Flexbox </a:t>
            </a:r>
          </a:p>
          <a:p>
            <a:pPr marL="285750" indent="-285750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</a:rPr>
              <a:t>CSS for  CSS3,CSS Grid and Flexbox </a:t>
            </a:r>
          </a:p>
        </p:txBody>
      </p:sp>
      <p:sp>
        <p:nvSpPr>
          <p:cNvPr id="10" name="Text 8"/>
          <p:cNvSpPr/>
          <p:nvPr/>
        </p:nvSpPr>
        <p:spPr>
          <a:xfrm>
            <a:off x="1010325" y="5474637"/>
            <a:ext cx="3715703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</a:rPr>
              <a:t>JavaScript (Vanilla)-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</a:rPr>
              <a:t>Client side logic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3780" y="6139443"/>
            <a:ext cx="3715703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</a:rPr>
              <a:t>Bootstrap 5.3- UI component library and responsive grid system </a:t>
            </a:r>
          </a:p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78157" y="2940009"/>
            <a:ext cx="4248785" cy="4695704"/>
          </a:xfrm>
          <a:prstGeom prst="roundRect">
            <a:avLst>
              <a:gd name="adj" fmla="val 265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5167908" y="3332321"/>
            <a:ext cx="91440" cy="4132898"/>
          </a:xfrm>
          <a:prstGeom prst="roundRect">
            <a:avLst>
              <a:gd name="adj" fmla="val 34348"/>
            </a:avLst>
          </a:prstGeom>
          <a:solidFill>
            <a:srgbClr val="8061FF"/>
          </a:solidFill>
        </p:spPr>
      </p:sp>
      <p:sp>
        <p:nvSpPr>
          <p:cNvPr id="14" name="Text 12"/>
          <p:cNvSpPr/>
          <p:nvPr/>
        </p:nvSpPr>
        <p:spPr>
          <a:xfrm>
            <a:off x="5622546" y="3250928"/>
            <a:ext cx="2463165" cy="445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Scalable Backend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91520" y="3894455"/>
            <a:ext cx="371582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FastAPI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High-performance, asynchronous operations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91520" y="4741307"/>
            <a:ext cx="371582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RESTful API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Stateless microservices architecture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91520" y="5484614"/>
            <a:ext cx="371582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Docker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Containerized deployment for reliability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91520" y="6227921"/>
            <a:ext cx="371582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JSON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Lightweight metadata persistence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586617" y="2993609"/>
            <a:ext cx="4248785" cy="4642104"/>
          </a:xfrm>
          <a:prstGeom prst="roundRect">
            <a:avLst>
              <a:gd name="adj" fmla="val 265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25965" y="3332321"/>
            <a:ext cx="91440" cy="4132898"/>
          </a:xfrm>
          <a:prstGeom prst="roundRect">
            <a:avLst>
              <a:gd name="adj" fmla="val 34348"/>
            </a:avLst>
          </a:prstGeom>
          <a:solidFill>
            <a:srgbClr val="8061FF"/>
          </a:solidFill>
        </p:spPr>
      </p:sp>
      <p:sp>
        <p:nvSpPr>
          <p:cNvPr id="21" name="Text 19"/>
          <p:cNvSpPr/>
          <p:nvPr/>
        </p:nvSpPr>
        <p:spPr>
          <a:xfrm>
            <a:off x="9949815" y="3254604"/>
            <a:ext cx="2544445" cy="44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Intelligent ML Core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49815" y="3894455"/>
            <a:ext cx="3716020" cy="11087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Active Learning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Efficient model refinement through uncertainty sampling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49815" y="4961255"/>
            <a:ext cx="3716020" cy="784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SpaCy NER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Custom entity recognition for specific domains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39288" y="5856211"/>
            <a:ext cx="3716020" cy="744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Rasa NLU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Intent classification &amp; entity extraction capabilities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949815" y="6585127"/>
            <a:ext cx="3716020" cy="765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SzPct val="100000"/>
              <a:buFont typeface="Wingdings" panose="05000000000000000000" charset="0"/>
              <a:buChar char="v"/>
            </a:pPr>
            <a:r>
              <a:rPr lang="en-US" b="1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Transfer Learning</a:t>
            </a:r>
            <a:r>
              <a:rPr lang="en-US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- Pre-trained embeddings for faster convergence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6C17C65-0490-77A8-BA3B-BF9DEDC9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8" y="2475328"/>
            <a:ext cx="5662247" cy="48008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24CC1AC-0278-67A9-2E1E-ED39EFF12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259" y="97653"/>
            <a:ext cx="8324633" cy="803429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2B7A2C-611E-8F11-CFA4-CCD0435008C7}"/>
              </a:ext>
            </a:extLst>
          </p:cNvPr>
          <p:cNvSpPr txBox="1"/>
          <p:nvPr/>
        </p:nvSpPr>
        <p:spPr>
          <a:xfrm>
            <a:off x="398584" y="867845"/>
            <a:ext cx="7315200" cy="444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600" b="1" dirty="0"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Dynamic Frontend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7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4EBE1A9-43D2-4AB4-E745-551B00B68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92" y="1969410"/>
            <a:ext cx="5878081" cy="51084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643AE4-03E8-F553-60EB-10A3F4A9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9728"/>
            <a:ext cx="8206753" cy="80223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53221E-CE21-5944-C5AC-52F71A4558A9}"/>
              </a:ext>
            </a:extLst>
          </p:cNvPr>
          <p:cNvSpPr txBox="1"/>
          <p:nvPr/>
        </p:nvSpPr>
        <p:spPr>
          <a:xfrm>
            <a:off x="609600" y="817168"/>
            <a:ext cx="7315200" cy="444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600" b="1" dirty="0">
                <a:latin typeface="Arial Black" panose="020B0A04020102020204" charset="0"/>
                <a:ea typeface="Syne Bold" pitchFamily="34" charset="-122"/>
                <a:cs typeface="Arial Black" panose="020B0A04020102020204" charset="0"/>
              </a:rPr>
              <a:t>Scalable Backend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4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752" y="640080"/>
            <a:ext cx="7539276" cy="60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endParaRPr lang="en-US" sz="3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9002" y="1089536"/>
            <a:ext cx="4292441" cy="3317041"/>
          </a:xfrm>
          <a:prstGeom prst="roundRect">
            <a:avLst>
              <a:gd name="adj" fmla="val 362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440458" y="1186019"/>
            <a:ext cx="91440" cy="3030260"/>
          </a:xfrm>
          <a:prstGeom prst="roundRect">
            <a:avLst>
              <a:gd name="adj" fmla="val 31958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840883" y="1301094"/>
            <a:ext cx="3708678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Degradation Over Time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00938" y="1998866"/>
            <a:ext cx="3788569" cy="155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Active learning loop continuously identifies edge cases and low-confidence predictions, enabling proactive retraining before accuracy drops impact production systems.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Shape 5"/>
          <p:cNvSpPr/>
          <p:nvPr/>
        </p:nvSpPr>
        <p:spPr>
          <a:xfrm>
            <a:off x="5313431" y="1103092"/>
            <a:ext cx="4292441" cy="3287015"/>
          </a:xfrm>
          <a:prstGeom prst="roundRect">
            <a:avLst>
              <a:gd name="adj" fmla="val 362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272736" y="1250453"/>
            <a:ext cx="91440" cy="3030260"/>
          </a:xfrm>
          <a:prstGeom prst="roundRect">
            <a:avLst>
              <a:gd name="adj" fmla="val 31958"/>
            </a:avLst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9" name="Text 7"/>
          <p:cNvSpPr/>
          <p:nvPr/>
        </p:nvSpPr>
        <p:spPr>
          <a:xfrm>
            <a:off x="5533972" y="1255666"/>
            <a:ext cx="3788569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Deployment Consistency &amp; Reliability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514030" y="2037254"/>
            <a:ext cx="3788569" cy="155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Docker-based pipeline eliminates "works on my machine" issues. Every deployment follows the same validated 4-step process with health checks, ensuring reproducible production 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33164" y="1103092"/>
            <a:ext cx="4292441" cy="3259903"/>
          </a:xfrm>
          <a:prstGeom prst="roundRect">
            <a:avLst>
              <a:gd name="adj" fmla="val 362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k</a:t>
            </a:r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10033164" y="1186019"/>
            <a:ext cx="91440" cy="3030260"/>
          </a:xfrm>
          <a:prstGeom prst="roundRect">
            <a:avLst>
              <a:gd name="adj" fmla="val 31958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10233625" y="1277419"/>
            <a:ext cx="4166907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Quality &amp; Annotation-Bottleneck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02342" y="2038070"/>
            <a:ext cx="3845523" cy="18695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Structured annotation workflow with entity/intent management prevents labeling inconsistencies.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Intelligent uncertainty detection prioritizes samples that need human review.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13000" y="4851753"/>
            <a:ext cx="4292441" cy="3169129"/>
          </a:xfrm>
          <a:prstGeom prst="roundRect">
            <a:avLst>
              <a:gd name="adj" fmla="val 4025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2749810" y="5117817"/>
            <a:ext cx="91440" cy="2725936"/>
          </a:xfrm>
          <a:prstGeom prst="roundRect">
            <a:avLst>
              <a:gd name="adj" fmla="val 31958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2964691" y="5074925"/>
            <a:ext cx="4074795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Version Control &amp; Rollback Complexity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19622" y="5613551"/>
            <a:ext cx="4074795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Complete metadata tracking for every model version enables instant rollback to previous states. JSON-based versioning ensures full reproducibility and audit trail compliance.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32663" y="4826008"/>
            <a:ext cx="4292441" cy="3169129"/>
          </a:xfrm>
          <a:prstGeom prst="roundRect">
            <a:avLst>
              <a:gd name="adj" fmla="val 4025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Shape 18"/>
          <p:cNvSpPr/>
          <p:nvPr/>
        </p:nvSpPr>
        <p:spPr>
          <a:xfrm>
            <a:off x="7867359" y="4999836"/>
            <a:ext cx="91440" cy="2725936"/>
          </a:xfrm>
          <a:prstGeom prst="roundRect">
            <a:avLst>
              <a:gd name="adj" fmla="val 31958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21" name="Text 19"/>
          <p:cNvSpPr/>
          <p:nvPr/>
        </p:nvSpPr>
        <p:spPr>
          <a:xfrm>
            <a:off x="8138879" y="5079358"/>
            <a:ext cx="3509605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Multi-Workspace Scalability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38879" y="5615188"/>
            <a:ext cx="3788569" cy="186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Isolated workspace architecture allows teams to manage separate projects without conflicts. Centralized dashboard provides oversight while maintaining security boundaries b/w env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B30FC-0EDC-7FBA-2115-AF48598665BF}"/>
              </a:ext>
            </a:extLst>
          </p:cNvPr>
          <p:cNvSpPr txBox="1"/>
          <p:nvPr/>
        </p:nvSpPr>
        <p:spPr>
          <a:xfrm>
            <a:off x="406399" y="162856"/>
            <a:ext cx="7315200" cy="666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b="1" dirty="0"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Critical Challenges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79726" y="603234"/>
            <a:ext cx="7519749" cy="5560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Model Architecture &amp; Performance</a:t>
            </a:r>
            <a:endParaRPr lang="en-US" sz="32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433131" y="1631494"/>
            <a:ext cx="3860363" cy="2725221"/>
          </a:xfrm>
          <a:prstGeom prst="roundRect">
            <a:avLst>
              <a:gd name="adj" fmla="val 3219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6583022" y="1828333"/>
            <a:ext cx="533757" cy="533757"/>
          </a:xfrm>
          <a:prstGeom prst="roundRect">
            <a:avLst>
              <a:gd name="adj" fmla="val 17129678"/>
            </a:avLst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686385" y="1970959"/>
            <a:ext cx="383076" cy="2677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7149" y="2281729"/>
            <a:ext cx="2298065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Dual Model Support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24476" y="2870446"/>
            <a:ext cx="3489325" cy="965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SpaCy and Rasa NLU models with seamless switching between frameworks based on project requirements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479643" y="1617940"/>
            <a:ext cx="3860363" cy="2725220"/>
          </a:xfrm>
          <a:prstGeom prst="roundRect">
            <a:avLst>
              <a:gd name="adj" fmla="val 3219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0" name="Shape 6"/>
          <p:cNvSpPr/>
          <p:nvPr/>
        </p:nvSpPr>
        <p:spPr>
          <a:xfrm>
            <a:off x="10666570" y="1837934"/>
            <a:ext cx="533757" cy="533757"/>
          </a:xfrm>
          <a:prstGeom prst="roundRect">
            <a:avLst>
              <a:gd name="adj" fmla="val 17129678"/>
            </a:avLst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373" y="1975562"/>
            <a:ext cx="240149" cy="2401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00327" y="2301953"/>
            <a:ext cx="2418993" cy="2780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Performance Tracking</a:t>
            </a:r>
          </a:p>
        </p:txBody>
      </p:sp>
      <p:sp>
        <p:nvSpPr>
          <p:cNvPr id="13" name="Text 8"/>
          <p:cNvSpPr/>
          <p:nvPr/>
        </p:nvSpPr>
        <p:spPr>
          <a:xfrm>
            <a:off x="10719792" y="2851317"/>
            <a:ext cx="3489365" cy="8543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 accuracy visualization showing current model performance at 73.28% with trend analysis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43918" y="4631371"/>
            <a:ext cx="7898606" cy="2036921"/>
          </a:xfrm>
          <a:prstGeom prst="roundRect">
            <a:avLst>
              <a:gd name="adj" fmla="val 3669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5" name="Shape 10"/>
          <p:cNvSpPr/>
          <p:nvPr/>
        </p:nvSpPr>
        <p:spPr>
          <a:xfrm>
            <a:off x="6644964" y="4810089"/>
            <a:ext cx="533757" cy="569595"/>
          </a:xfrm>
          <a:prstGeom prst="roundRect">
            <a:avLst>
              <a:gd name="adj" fmla="val 17129678"/>
            </a:avLst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9455" y="4974811"/>
            <a:ext cx="240149" cy="2401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98257" y="5261438"/>
            <a:ext cx="2315848" cy="422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Version Control</a:t>
            </a:r>
            <a:endParaRPr lang="en-US" sz="175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902766" y="5747176"/>
            <a:ext cx="7527608" cy="569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Complete version history with tar.gz model files and JSON metadata for every training iteration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79726" y="7123268"/>
            <a:ext cx="8452624" cy="11950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</a:p>
        </p:txBody>
      </p:sp>
      <p:pic>
        <p:nvPicPr>
          <p:cNvPr id="20" name="Picture 19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34FE047D-EA23-0840-4B92-F61414093E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6047714" cy="822960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21" name="Shape 9">
            <a:extLst>
              <a:ext uri="{FF2B5EF4-FFF2-40B4-BE49-F238E27FC236}">
                <a16:creationId xmlns:a16="http://schemas.microsoft.com/office/drawing/2014/main" id="{F77B491A-AA90-8300-CCEC-B57B81997BAA}"/>
              </a:ext>
            </a:extLst>
          </p:cNvPr>
          <p:cNvSpPr/>
          <p:nvPr/>
        </p:nvSpPr>
        <p:spPr>
          <a:xfrm>
            <a:off x="6152520" y="6910274"/>
            <a:ext cx="8366368" cy="1292406"/>
          </a:xfrm>
          <a:prstGeom prst="roundRect">
            <a:avLst>
              <a:gd name="adj" fmla="val 3669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ts val="22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stem architecture overview&#10;&#10;AI-generated content may be incorrect.">
            <a:extLst>
              <a:ext uri="{FF2B5EF4-FFF2-40B4-BE49-F238E27FC236}">
                <a16:creationId xmlns:a16="http://schemas.microsoft.com/office/drawing/2014/main" id="{91214DB6-5203-0E9F-D014-CD4CC6F1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630400" cy="816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50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314" y="479584"/>
            <a:ext cx="5261372" cy="544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System Inputs &amp; Outputs</a:t>
            </a:r>
            <a:endParaRPr lang="en-US" sz="3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6767" y="1351359"/>
            <a:ext cx="2615922" cy="326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FFC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r>
              <a:rPr lang="en-US" sz="2400" b="1" dirty="0">
                <a:solidFill>
                  <a:srgbClr val="FFC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nput Processing</a:t>
            </a:r>
            <a:endParaRPr lang="en-US" sz="2400" dirty="0">
              <a:solidFill>
                <a:srgbClr val="FFC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0314" y="1983462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 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0314" y="2256830"/>
            <a:ext cx="6492121" cy="22860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10314" y="2389703"/>
            <a:ext cx="2179915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Dataset Import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0314" y="2836426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Support for CSV, JSON, and Rasa formats with automatic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schema validation</a:t>
            </a:r>
          </a:p>
          <a:p>
            <a:pPr marL="0" indent="0" algn="l">
              <a:lnSpc>
                <a:spcPts val="2150"/>
              </a:lnSpc>
              <a:buNone/>
            </a:pPr>
            <a:endParaRPr lang="en-US" sz="1600" dirty="0">
              <a:solidFill>
                <a:srgbClr val="E5E0DF"/>
              </a:solidFill>
              <a:latin typeface="Inter" panose="02000503000000020004" pitchFamily="34" charset="0"/>
              <a:ea typeface="Inter" panose="02000503000000020004" pitchFamily="34" charset="-122"/>
            </a:endParaRPr>
          </a:p>
          <a:p>
            <a:pPr marL="0" indent="0" algn="l">
              <a:lnSpc>
                <a:spcPts val="2150"/>
              </a:lnSpc>
              <a:buNone/>
            </a:pPr>
            <a:endParaRPr lang="en-US" sz="1600" dirty="0">
              <a:solidFill>
                <a:srgbClr val="E5E0DF"/>
              </a:solidFill>
              <a:latin typeface="Inter" panose="02000503000000020004" pitchFamily="34" charset="0"/>
              <a:ea typeface="Inter" panose="02000503000000020004" pitchFamily="34" charset="-122"/>
            </a:endParaRPr>
          </a:p>
          <a:p>
            <a:pPr marL="0" indent="0" algn="l">
              <a:lnSpc>
                <a:spcPts val="215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0314" y="3420547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0314" y="3693914"/>
            <a:ext cx="6492121" cy="22860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10314" y="3826788"/>
            <a:ext cx="2179915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Entity Definition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0314" y="4273510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Configure entity types and intent classifications for your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domain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0314" y="4857631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0314" y="5130998"/>
            <a:ext cx="6492121" cy="22860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10314" y="5263872"/>
            <a:ext cx="2198846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Annotation Interface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0314" y="5710595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Intuitive UI with Add Entity and Save Annotation workflows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35585" y="1405057"/>
            <a:ext cx="2377559" cy="382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FFC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Output Generation</a:t>
            </a:r>
            <a:endParaRPr lang="en-US" sz="2400" dirty="0">
              <a:solidFill>
                <a:srgbClr val="FFC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5585" y="1983462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35585" y="2256829"/>
            <a:ext cx="6379707" cy="45719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7535585" y="2389703"/>
            <a:ext cx="2179915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Model Updates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35585" y="2836426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Refreshed accuracy metrics after each training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cycle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35585" y="3420547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535585" y="3693913"/>
            <a:ext cx="6379707" cy="45719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7535585" y="3826788"/>
            <a:ext cx="2377559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Prediction Confidence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35585" y="4273510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Confidence scores for all model predictions and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classifications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35585" y="4857631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535585" y="5130997"/>
            <a:ext cx="6379707" cy="45719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7535585" y="5263872"/>
            <a:ext cx="2424589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Active Learning Queue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35585" y="5710595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Uncertain samples flagged for human review and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re-annotation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35585" y="6294715"/>
            <a:ext cx="174308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35585" y="6615589"/>
            <a:ext cx="6379707" cy="45719"/>
          </a:xfrm>
          <a:prstGeom prst="rect">
            <a:avLst/>
          </a:prstGeom>
          <a:solidFill>
            <a:srgbClr val="2B0A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7479377" y="6833829"/>
            <a:ext cx="2179915" cy="272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Deployment Status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79377" y="7287220"/>
            <a:ext cx="6492121" cy="279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 deployment health and version information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3788" y="631519"/>
            <a:ext cx="6288524" cy="629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Unified Admin Dashboard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34265" y="1656604"/>
            <a:ext cx="2410539" cy="664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5E0DF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 Bold" pitchFamily="34" charset="-120"/>
              </a:rPr>
              <a:t>1.2K</a:t>
            </a:r>
            <a:endParaRPr lang="en-US" sz="5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34266" y="2471308"/>
            <a:ext cx="2410539" cy="314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Total Annotations</a:t>
            </a:r>
            <a:endParaRPr lang="en-US" sz="195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53265" y="2927959"/>
            <a:ext cx="2410539" cy="966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Cumulative annotations across all active workspaces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902285" y="1630798"/>
            <a:ext cx="2410539" cy="664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5E0DF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 Bold" pitchFamily="34" charset="-120"/>
              </a:rPr>
              <a:t>12</a:t>
            </a:r>
            <a:endParaRPr lang="en-US" sz="5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02284" y="2459177"/>
            <a:ext cx="2410539" cy="314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Entity Types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02283" y="2927959"/>
            <a:ext cx="2410539" cy="64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Configured entity classifications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039357" y="1626274"/>
            <a:ext cx="2410539" cy="664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5E0DF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 Bold" pitchFamily="34" charset="-120"/>
              </a:rPr>
              <a:t>8</a:t>
            </a:r>
            <a:endParaRPr lang="en-US" sz="5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067307" y="2465086"/>
            <a:ext cx="2410539" cy="314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Intent Types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50680" y="2926131"/>
            <a:ext cx="2410539" cy="64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Defined user intent categories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31012" y="4259461"/>
            <a:ext cx="2353080" cy="664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5E0DF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 Bold" pitchFamily="34" charset="-120"/>
              </a:rPr>
              <a:t>73.28%</a:t>
            </a:r>
            <a:endParaRPr lang="en-US" sz="5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73553" y="5075086"/>
            <a:ext cx="2410539" cy="314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Model Accuracy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44805" y="5540905"/>
            <a:ext cx="2410539" cy="64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Current production model performance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165" y="7105488"/>
            <a:ext cx="14499053" cy="966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pic>
        <p:nvPicPr>
          <p:cNvPr id="17" name="Picture 16" descr="A screenshot of a computer">
            <a:extLst>
              <a:ext uri="{FF2B5EF4-FFF2-40B4-BE49-F238E27FC236}">
                <a16:creationId xmlns:a16="http://schemas.microsoft.com/office/drawing/2014/main" id="{A61882C7-4ADE-406F-7270-FA506767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04" y="1496266"/>
            <a:ext cx="7353761" cy="619075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599837"/>
            <a:ext cx="6889433" cy="681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Active Learning Workflow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77441" y="2180095"/>
            <a:ext cx="3106698" cy="340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Detect Low Confidence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3638" y="2763374"/>
            <a:ext cx="3931444" cy="69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System identifies predictions below confidence threshold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56" y="1717715"/>
            <a:ext cx="4586168" cy="458616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8874" y="2534245"/>
            <a:ext cx="326350" cy="326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5408" y="2197656"/>
            <a:ext cx="2726769" cy="340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Flag Uncertainty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5408" y="2763374"/>
            <a:ext cx="3931563" cy="69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Samples queued for human review and validation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056" y="1717715"/>
            <a:ext cx="4586168" cy="458616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5106" y="2924532"/>
            <a:ext cx="326350" cy="326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5408" y="4654272"/>
            <a:ext cx="2726769" cy="340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Re-Annotation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5408" y="5125879"/>
            <a:ext cx="3931563" cy="69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Domain experts correct and validate uncertain predictions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2056" y="1717715"/>
            <a:ext cx="4586168" cy="458616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74819" y="5160764"/>
            <a:ext cx="326350" cy="3263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968103" y="4654272"/>
            <a:ext cx="2726769" cy="340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Retrain Model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63429" y="5125879"/>
            <a:ext cx="3931444" cy="69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Updated training data improves model accuracy over time</a:t>
            </a:r>
            <a:endParaRPr lang="en-US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2056" y="1717715"/>
            <a:ext cx="4586168" cy="458616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587" y="4770477"/>
            <a:ext cx="326350" cy="32635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0" y="6582132"/>
            <a:ext cx="14630400" cy="1647468"/>
          </a:xfrm>
          <a:prstGeom prst="roundRect">
            <a:avLst>
              <a:gd name="adj" fmla="val 7181"/>
            </a:avLst>
          </a:prstGeom>
          <a:solidFill>
            <a:srgbClr val="0A004D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551" y="6882527"/>
            <a:ext cx="272653" cy="21812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472327" y="6821924"/>
            <a:ext cx="12176522" cy="69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Current Status:</a:t>
            </a:r>
            <a:r>
              <a:rPr lang="en-US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Zero uncertain samples detected, indicating the model is making confident predictions across all test cases. This demonstrates strong model performance and comprehensive training data coverage.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3E5AEE46-2C0F-69D9-738F-DEBBCDBEC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0015"/>
            <a:ext cx="14365074" cy="7989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33872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odel training&#10;&#10;AI-generated content may be incorrect.">
            <a:extLst>
              <a:ext uri="{FF2B5EF4-FFF2-40B4-BE49-F238E27FC236}">
                <a16:creationId xmlns:a16="http://schemas.microsoft.com/office/drawing/2014/main" id="{DF15E78D-4C7C-35B4-A537-0541A0A7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65" y="79799"/>
            <a:ext cx="9406984" cy="80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DF2DA3-C05B-06F5-667C-9919DCEE3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828" y="3523785"/>
            <a:ext cx="7047571" cy="466256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069C2E-6DF1-C06B-1177-93E60E3D1607}"/>
              </a:ext>
            </a:extLst>
          </p:cNvPr>
          <p:cNvSpPr txBox="1"/>
          <p:nvPr/>
        </p:nvSpPr>
        <p:spPr>
          <a:xfrm>
            <a:off x="433073" y="821399"/>
            <a:ext cx="755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</a:rPr>
              <a:t>Model Health &amp; Version tracking   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C1449-D2E6-2064-5B2B-35E83D972DA2}"/>
              </a:ext>
            </a:extLst>
          </p:cNvPr>
          <p:cNvSpPr txBox="1"/>
          <p:nvPr/>
        </p:nvSpPr>
        <p:spPr>
          <a:xfrm>
            <a:off x="724830" y="2092624"/>
            <a:ext cx="6501161" cy="3170099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•The Model Health dashboard provides real-time insights into training status, accuracy, and all deployed model versions across frameworks like </a:t>
            </a:r>
            <a:r>
              <a:rPr lang="en-US" sz="20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SpaCy</a:t>
            </a: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and Rasa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</a:p>
          <a:p>
            <a:endParaRPr lang="en-US" sz="2000" b="1" dirty="0">
              <a:solidFill>
                <a:schemeClr val="tx1"/>
              </a:solidFill>
            </a:endParaRPr>
          </a:p>
          <a:p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• It helps track performance drift, compare versions, and ensure only the latest and most reliable NLU models are used in production.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87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10" y="455414"/>
            <a:ext cx="7846100" cy="517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 Metadata Management</a:t>
            </a:r>
            <a:endParaRPr lang="en-US" sz="32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2456" y="1176255"/>
            <a:ext cx="2484239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Version Tracking</a:t>
            </a:r>
            <a:endParaRPr lang="en-US" sz="2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2456" y="1642883"/>
            <a:ext cx="7920990" cy="5298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Every model version maintains comprehensive metadata stored in structured JSON format, providing complete visibility into model lineage and configuration history</a:t>
            </a:r>
            <a:r>
              <a:rPr lang="en-US" sz="16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72096" y="2579132"/>
            <a:ext cx="7920990" cy="1563053"/>
          </a:xfrm>
          <a:prstGeom prst="roundRect">
            <a:avLst>
              <a:gd name="adj" fmla="val 4450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02456" y="2651430"/>
            <a:ext cx="7875270" cy="496848"/>
          </a:xfrm>
          <a:prstGeom prst="roundRect">
            <a:avLst>
              <a:gd name="adj" fmla="val 8479"/>
            </a:avLst>
          </a:prstGeom>
          <a:solidFill>
            <a:srgbClr val="110080"/>
          </a:solidFill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15909" y="2722364"/>
            <a:ext cx="248364" cy="248364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768072" y="3264456"/>
            <a:ext cx="2131933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Training Timestamps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768072" y="3688794"/>
            <a:ext cx="7544038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Precise datetime for each training run</a:t>
            </a:r>
            <a:endParaRPr lang="en-US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556736" y="4266523"/>
            <a:ext cx="7920990" cy="1563053"/>
          </a:xfrm>
          <a:prstGeom prst="roundRect">
            <a:avLst>
              <a:gd name="adj" fmla="val 4450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594956" y="4341141"/>
            <a:ext cx="7875270" cy="496848"/>
          </a:xfrm>
          <a:prstGeom prst="roundRect">
            <a:avLst>
              <a:gd name="adj" fmla="val 8479"/>
            </a:avLst>
          </a:prstGeom>
          <a:solidFill>
            <a:srgbClr val="110080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15909" y="4451033"/>
            <a:ext cx="248364" cy="248364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768071" y="4993124"/>
            <a:ext cx="2070259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File Names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768072" y="5417463"/>
            <a:ext cx="7544038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Unique identifiers for model artifacts</a:t>
            </a:r>
            <a:endParaRPr lang="en-US" dirty="0"/>
          </a:p>
        </p:txBody>
      </p:sp>
      <p:sp>
        <p:nvSpPr>
          <p:cNvPr id="15" name="Shape 11"/>
          <p:cNvSpPr/>
          <p:nvPr>
            <p:custDataLst>
              <p:tags r:id="rId11"/>
            </p:custDataLst>
          </p:nvPr>
        </p:nvSpPr>
        <p:spPr>
          <a:xfrm>
            <a:off x="556736" y="6004323"/>
            <a:ext cx="7943850" cy="1563053"/>
          </a:xfrm>
          <a:prstGeom prst="roundRect">
            <a:avLst>
              <a:gd name="adj" fmla="val 4450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6" name="Shape 12"/>
          <p:cNvSpPr/>
          <p:nvPr>
            <p:custDataLst>
              <p:tags r:id="rId12"/>
            </p:custDataLst>
          </p:nvPr>
        </p:nvSpPr>
        <p:spPr>
          <a:xfrm>
            <a:off x="602456" y="6059329"/>
            <a:ext cx="7875270" cy="496848"/>
          </a:xfrm>
          <a:prstGeom prst="roundRect">
            <a:avLst>
              <a:gd name="adj" fmla="val 8479"/>
            </a:avLst>
          </a:prstGeom>
          <a:solidFill>
            <a:srgbClr val="110080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17" name="Image 2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415909" y="6179701"/>
            <a:ext cx="248364" cy="248364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4"/>
            </p:custDataLst>
          </p:nvPr>
        </p:nvSpPr>
        <p:spPr>
          <a:xfrm>
            <a:off x="768072" y="6721793"/>
            <a:ext cx="2070259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Model Index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/>
          <p:cNvSpPr/>
          <p:nvPr>
            <p:custDataLst>
              <p:tags r:id="rId15"/>
            </p:custDataLst>
          </p:nvPr>
        </p:nvSpPr>
        <p:spPr>
          <a:xfrm>
            <a:off x="768072" y="7146131"/>
            <a:ext cx="7544038" cy="264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Sequential version numbering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8912304" y="7215902"/>
            <a:ext cx="5146000" cy="7947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pic>
        <p:nvPicPr>
          <p:cNvPr id="23" name="Picture 2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12333D2-71D0-54BC-F1B0-A4D7DAD865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66202" y="2579131"/>
            <a:ext cx="5931815" cy="565046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90DA00-D65C-2EE2-755A-37225BF02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66" y="1416206"/>
            <a:ext cx="14362771" cy="667958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D668FA-6822-FD1B-B3C4-B3ADDF0CF567}"/>
              </a:ext>
            </a:extLst>
          </p:cNvPr>
          <p:cNvSpPr txBox="1"/>
          <p:nvPr/>
        </p:nvSpPr>
        <p:spPr>
          <a:xfrm>
            <a:off x="412594" y="323419"/>
            <a:ext cx="8709103" cy="685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Automated Deployment Pipeline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E779C-3E25-DF6F-AC8C-F9597CB5179D}"/>
              </a:ext>
            </a:extLst>
          </p:cNvPr>
          <p:cNvSpPr txBox="1"/>
          <p:nvPr/>
        </p:nvSpPr>
        <p:spPr>
          <a:xfrm>
            <a:off x="412594" y="1252083"/>
            <a:ext cx="7826727" cy="624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 Deployment   Pipeline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820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9932" y="235148"/>
            <a:ext cx="7848771" cy="1237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71122" y="1084298"/>
            <a:ext cx="990124" cy="1188125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2"/>
            </p:custDataLst>
          </p:nvPr>
        </p:nvSpPr>
        <p:spPr>
          <a:xfrm>
            <a:off x="2088988" y="1177141"/>
            <a:ext cx="2475428" cy="309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Build Docker Image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>
            <p:custDataLst>
              <p:tags r:id="rId3"/>
            </p:custDataLst>
          </p:nvPr>
        </p:nvSpPr>
        <p:spPr>
          <a:xfrm>
            <a:off x="2088988" y="1743304"/>
            <a:ext cx="6569750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Package model and dependencies into containerized image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71122" y="2775693"/>
            <a:ext cx="990124" cy="1188125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5"/>
            </p:custDataLst>
          </p:nvPr>
        </p:nvSpPr>
        <p:spPr>
          <a:xfrm>
            <a:off x="2088988" y="2906961"/>
            <a:ext cx="2475428" cy="309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Push to Registry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>
            <p:custDataLst>
              <p:tags r:id="rId6"/>
            </p:custDataLst>
          </p:nvPr>
        </p:nvSpPr>
        <p:spPr>
          <a:xfrm>
            <a:off x="2088988" y="3530984"/>
            <a:ext cx="6569750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Upload container image to centralized registry</a:t>
            </a: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1122" y="4672015"/>
            <a:ext cx="990124" cy="1188125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8"/>
            </p:custDataLst>
          </p:nvPr>
        </p:nvSpPr>
        <p:spPr>
          <a:xfrm>
            <a:off x="2088988" y="4766797"/>
            <a:ext cx="2528173" cy="309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Deploy to Production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>
            <p:custDataLst>
              <p:tags r:id="rId9"/>
            </p:custDataLst>
          </p:nvPr>
        </p:nvSpPr>
        <p:spPr>
          <a:xfrm>
            <a:off x="2061923" y="5295210"/>
            <a:ext cx="6569750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Launch container in production environment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71122" y="6568337"/>
            <a:ext cx="990124" cy="1188125"/>
          </a:xfrm>
          <a:prstGeom prst="rect">
            <a:avLst/>
          </a:prstGeom>
        </p:spPr>
      </p:pic>
      <p:sp>
        <p:nvSpPr>
          <p:cNvPr id="14" name="Text 7"/>
          <p:cNvSpPr/>
          <p:nvPr>
            <p:custDataLst>
              <p:tags r:id="rId11"/>
            </p:custDataLst>
          </p:nvPr>
        </p:nvSpPr>
        <p:spPr>
          <a:xfrm>
            <a:off x="2088988" y="6546303"/>
            <a:ext cx="2475428" cy="309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Health Check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/>
          <p:cNvSpPr/>
          <p:nvPr>
            <p:custDataLst>
              <p:tags r:id="rId12"/>
            </p:custDataLst>
          </p:nvPr>
        </p:nvSpPr>
        <p:spPr>
          <a:xfrm>
            <a:off x="2061923" y="7140694"/>
            <a:ext cx="6569750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Validate deployment and service availability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23421" y="5906848"/>
            <a:ext cx="7757874" cy="633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26CF57-693C-E8EE-CE0C-27C9D2D9DB6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15922" y="2804065"/>
            <a:ext cx="6991815" cy="532263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138" y="417314"/>
            <a:ext cx="5990273" cy="4741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Deployment Status &amp; Monitoring</a:t>
            </a:r>
            <a:endParaRPr lang="en-US" sz="29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860" y="1270635"/>
            <a:ext cx="3295650" cy="284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Active Deployment Details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1138" y="1725811"/>
            <a:ext cx="6598920" cy="1344930"/>
          </a:xfrm>
          <a:prstGeom prst="roundRect">
            <a:avLst>
              <a:gd name="adj" fmla="val 4739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98063" y="1892737"/>
            <a:ext cx="1896904" cy="2370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Version 1.0.0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8063" y="2281476"/>
            <a:ext cx="6265069" cy="242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Status:</a:t>
            </a: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Deployment successful ✓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063" y="2660928"/>
            <a:ext cx="6265069" cy="242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Container:</a:t>
            </a: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nlu-model-v1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3518" y="3263951"/>
            <a:ext cx="6598920" cy="1344930"/>
          </a:xfrm>
          <a:prstGeom prst="roundRect">
            <a:avLst>
              <a:gd name="adj" fmla="val 4739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8063" y="3389352"/>
            <a:ext cx="2120741" cy="2370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anose="020B0A04020102020204" charset="0"/>
                <a:ea typeface="Inter Bold" pitchFamily="34" charset="-122"/>
                <a:cs typeface="Arial Black" panose="020B0A04020102020204" charset="0"/>
              </a:rPr>
              <a:t>Network Configuration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20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8063" y="3778091"/>
            <a:ext cx="6265069" cy="242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Port Mapping:</a:t>
            </a: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8080:5000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063" y="4157543"/>
            <a:ext cx="6265069" cy="242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Access URL:</a:t>
            </a:r>
            <a:r>
              <a:rPr lang="en-US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http://localhost:8080/predict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1138" y="8286631"/>
            <a:ext cx="2276237" cy="2845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History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31138" y="8798719"/>
            <a:ext cx="13568124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Complete audit trail of all deployment events with timestamps, versions, and status codes. Historical data enables teams to track deployment frequency, identify patterns, and troubleshoot issues efficiently.</a:t>
            </a:r>
            <a:endParaRPr lang="en-US" sz="1150" dirty="0"/>
          </a:p>
        </p:txBody>
      </p:sp>
      <p:sp>
        <p:nvSpPr>
          <p:cNvPr id="15" name="Text Box 14"/>
          <p:cNvSpPr txBox="1"/>
          <p:nvPr/>
        </p:nvSpPr>
        <p:spPr>
          <a:xfrm>
            <a:off x="6904355" y="73279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6" name="Picture 15" descr="A screenshot of a computer">
            <a:extLst>
              <a:ext uri="{FF2B5EF4-FFF2-40B4-BE49-F238E27FC236}">
                <a16:creationId xmlns:a16="http://schemas.microsoft.com/office/drawing/2014/main" id="{21587456-5B16-54C4-45EF-48EFA54F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968" y="1412875"/>
            <a:ext cx="6598920" cy="672815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uilding with columns&#10;&#10;AI-generated content may be incorrect.">
            <a:extLst>
              <a:ext uri="{FF2B5EF4-FFF2-40B4-BE49-F238E27FC236}">
                <a16:creationId xmlns:a16="http://schemas.microsoft.com/office/drawing/2014/main" id="{6D8A3DDF-F83B-DB5D-919B-25C2ED324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7702"/>
            <a:ext cx="14630400" cy="820189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</p:pic>
    </p:spTree>
    <p:extLst>
      <p:ext uri="{BB962C8B-B14F-4D97-AF65-F5344CB8AC3E}">
        <p14:creationId xmlns:p14="http://schemas.microsoft.com/office/powerpoint/2010/main" val="3377239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workflow&#10;&#10;AI-generated content may be incorrect.">
            <a:extLst>
              <a:ext uri="{FF2B5EF4-FFF2-40B4-BE49-F238E27FC236}">
                <a16:creationId xmlns:a16="http://schemas.microsoft.com/office/drawing/2014/main" id="{8CF422C5-95CE-0729-BE60-CD2177440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1" y="0"/>
            <a:ext cx="14600849" cy="8229599"/>
          </a:xfrm>
          <a:prstGeom prst="roundRect">
            <a:avLst>
              <a:gd name="adj" fmla="val 8594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768478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8" y="652820"/>
            <a:ext cx="7935516" cy="69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Impact and Outcomes</a:t>
            </a:r>
            <a:endParaRPr lang="en-US" sz="4350" b="1" dirty="0"/>
          </a:p>
        </p:txBody>
      </p:sp>
      <p:sp>
        <p:nvSpPr>
          <p:cNvPr id="3" name="Text 1"/>
          <p:cNvSpPr/>
          <p:nvPr/>
        </p:nvSpPr>
        <p:spPr>
          <a:xfrm>
            <a:off x="418752" y="1674503"/>
            <a:ext cx="1338083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NLU Tool has delivered significant improvements across key operational and business metrics, showcasing its value through enhanced efficiency and performance.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3390" y="2903142"/>
            <a:ext cx="4214813" cy="698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15% Model Accuracy Improvement</a:t>
            </a:r>
            <a:endParaRPr lang="en-US" sz="21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8752" y="3701727"/>
            <a:ext cx="4705662" cy="151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1850" b="1" dirty="0">
                <a:latin typeface="Sora Medium"/>
                <a:ea typeface="Source Sans 3" pitchFamily="34" charset="-122"/>
                <a:cs typeface="Source Sans 3" pitchFamily="34" charset="-120"/>
              </a:rPr>
              <a:t>Enhanced NLU model performance by improving accuracy and reducing error rates, leading to more reliable AI applications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631" y="2946202"/>
            <a:ext cx="4539020" cy="45390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743" y="4222313"/>
            <a:ext cx="333732" cy="3337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84650" y="2852499"/>
            <a:ext cx="4214932" cy="698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30% Annotation Time Reduction</a:t>
            </a:r>
            <a:endParaRPr lang="en-US" sz="21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9584650" y="3815021"/>
            <a:ext cx="4626879" cy="151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latin typeface="Sora Medium"/>
                <a:ea typeface="Source Sans 3" pitchFamily="34" charset="-122"/>
                <a:cs typeface="Source Sans 3" pitchFamily="34" charset="-120"/>
              </a:rPr>
              <a:t>Streamlined data labeling processes, leading to significant time savings for annotation teams and faster model iterations.</a:t>
            </a:r>
            <a:endParaRPr lang="en-US" sz="1850" b="1" dirty="0">
              <a:latin typeface="Sora Medium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631" y="2946202"/>
            <a:ext cx="4539020" cy="45390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4568" y="4222313"/>
            <a:ext cx="333732" cy="3337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84650" y="5355789"/>
            <a:ext cx="410991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50% Faster Deployment Cycles</a:t>
            </a:r>
            <a:endParaRPr lang="en-US" sz="21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9584650" y="5875139"/>
            <a:ext cx="4916796" cy="151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Accelerated the deployment of NLU models into production environments, enabling quicker delivery of new features and capabilities.</a:t>
            </a:r>
            <a:endParaRPr lang="en-US" sz="1850" b="1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5631" y="2946202"/>
            <a:ext cx="4539020" cy="453902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74568" y="5875139"/>
            <a:ext cx="333732" cy="3337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35963" y="5430680"/>
            <a:ext cx="400966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$2M+ Tangible Business Value</a:t>
            </a:r>
            <a:endParaRPr lang="en-US" sz="21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9"/>
          <p:cNvSpPr/>
          <p:nvPr/>
        </p:nvSpPr>
        <p:spPr>
          <a:xfrm>
            <a:off x="339970" y="5964958"/>
            <a:ext cx="4705662" cy="151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185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Delivered substantial business value through a combination of operational cost savings and new revenue opportunities generated by advanced NLU capabilities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5631" y="2959033"/>
            <a:ext cx="4539020" cy="453902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1743" y="5875139"/>
            <a:ext cx="333732" cy="3337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667761"/>
            <a:ext cx="5670590" cy="801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FEE69-3018-0B65-6575-8940C57797EA}"/>
              </a:ext>
            </a:extLst>
          </p:cNvPr>
          <p:cNvSpPr txBox="1"/>
          <p:nvPr/>
        </p:nvSpPr>
        <p:spPr>
          <a:xfrm>
            <a:off x="598006" y="509211"/>
            <a:ext cx="938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Final Outputs </a:t>
            </a:r>
          </a:p>
        </p:txBody>
      </p:sp>
      <p:pic>
        <p:nvPicPr>
          <p:cNvPr id="5" name="Picture 4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2C192E1B-6114-7D40-4E38-9125FE5F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45161"/>
            <a:ext cx="7183287" cy="342328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3F3E6-A5B2-AF20-B8AB-013FFF091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10770"/>
            <a:ext cx="7195082" cy="342328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6B82D0D-C5DB-C068-9506-A8BF1FC90C3B}"/>
              </a:ext>
            </a:extLst>
          </p:cNvPr>
          <p:cNvSpPr txBox="1"/>
          <p:nvPr/>
        </p:nvSpPr>
        <p:spPr>
          <a:xfrm>
            <a:off x="793790" y="1952972"/>
            <a:ext cx="4920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Login &amp; </a:t>
            </a:r>
            <a:r>
              <a:rPr lang="en-IN" sz="3200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Registrtaion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Page</a:t>
            </a:r>
            <a:endParaRPr lang="en-IN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D6A5E49-26F0-E16B-FD3E-305D3606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98917"/>
            <a:ext cx="6968274" cy="38357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78B437-92B8-BC50-1555-C38573F8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259" y="4194887"/>
            <a:ext cx="7117954" cy="391588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AFF3A3-C2CC-EC60-422B-03109EAA4D8E}"/>
              </a:ext>
            </a:extLst>
          </p:cNvPr>
          <p:cNvSpPr txBox="1"/>
          <p:nvPr/>
        </p:nvSpPr>
        <p:spPr>
          <a:xfrm>
            <a:off x="9639363" y="924559"/>
            <a:ext cx="405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Models Metadata </a:t>
            </a:r>
          </a:p>
        </p:txBody>
      </p:sp>
    </p:spTree>
    <p:extLst>
      <p:ext uri="{BB962C8B-B14F-4D97-AF65-F5344CB8AC3E}">
        <p14:creationId xmlns:p14="http://schemas.microsoft.com/office/powerpoint/2010/main" val="2619079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A1DCBB-2E60-B498-6E1C-2A6AD504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1" y="2412983"/>
            <a:ext cx="6180502" cy="364896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D61153-6E30-BD93-1B9D-A99D09697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337" y="4237463"/>
            <a:ext cx="7783552" cy="388313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A28418-179A-CEF8-F3EF-6FAE653D75BB}"/>
              </a:ext>
            </a:extLst>
          </p:cNvPr>
          <p:cNvSpPr txBox="1"/>
          <p:nvPr/>
        </p:nvSpPr>
        <p:spPr>
          <a:xfrm>
            <a:off x="373079" y="702279"/>
            <a:ext cx="3669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3073529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DE04F3-EA17-2DB4-54EF-5A6DE2D1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299" y="1750741"/>
            <a:ext cx="9836511" cy="638964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22CB57-C54B-FA44-66F7-F293F73D07A6}"/>
              </a:ext>
            </a:extLst>
          </p:cNvPr>
          <p:cNvSpPr txBox="1"/>
          <p:nvPr/>
        </p:nvSpPr>
        <p:spPr>
          <a:xfrm>
            <a:off x="336767" y="814478"/>
            <a:ext cx="6420989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Model Health &amp; Version tracking</a:t>
            </a:r>
            <a:endParaRPr lang="en-IN" sz="36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861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87F2B7-EBFB-0553-816A-DBDDD8FE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1" y="1050472"/>
            <a:ext cx="9789618" cy="704531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8E57EA-93AB-56CD-31CB-58B841696E1D}"/>
              </a:ext>
            </a:extLst>
          </p:cNvPr>
          <p:cNvSpPr txBox="1"/>
          <p:nvPr/>
        </p:nvSpPr>
        <p:spPr>
          <a:xfrm>
            <a:off x="583754" y="1050472"/>
            <a:ext cx="347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User Registration</a:t>
            </a:r>
          </a:p>
        </p:txBody>
      </p:sp>
    </p:spTree>
    <p:extLst>
      <p:ext uri="{BB962C8B-B14F-4D97-AF65-F5344CB8AC3E}">
        <p14:creationId xmlns:p14="http://schemas.microsoft.com/office/powerpoint/2010/main" val="1033480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EF9AEC-3E6C-9FB5-5FD3-82CC1F9C3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508" y="253535"/>
            <a:ext cx="9824106" cy="427091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4C6D29-43FD-7A7E-5789-98CB3E7D8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508" y="4867376"/>
            <a:ext cx="9824107" cy="32512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3EE554-1CC4-D811-78EE-DAC61BB5CA64}"/>
              </a:ext>
            </a:extLst>
          </p:cNvPr>
          <p:cNvSpPr txBox="1"/>
          <p:nvPr/>
        </p:nvSpPr>
        <p:spPr>
          <a:xfrm>
            <a:off x="621155" y="634667"/>
            <a:ext cx="30556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Deployment </a:t>
            </a:r>
          </a:p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Health &amp; </a:t>
            </a:r>
          </a:p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603103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965A59-C6B1-5AD3-3FDC-D475F5C06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862" y="278781"/>
            <a:ext cx="9549123" cy="34837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1BE995-255B-6B3B-288F-90C1F468F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862" y="3916060"/>
            <a:ext cx="9549123" cy="419948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F9065-DA42-FF60-E1B2-E0603D8B8689}"/>
              </a:ext>
            </a:extLst>
          </p:cNvPr>
          <p:cNvSpPr txBox="1"/>
          <p:nvPr/>
        </p:nvSpPr>
        <p:spPr>
          <a:xfrm>
            <a:off x="345440" y="1054427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Deployment </a:t>
            </a:r>
          </a:p>
          <a:p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History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&amp;  Pipeline</a:t>
            </a:r>
          </a:p>
        </p:txBody>
      </p:sp>
    </p:spTree>
    <p:extLst>
      <p:ext uri="{BB962C8B-B14F-4D97-AF65-F5344CB8AC3E}">
        <p14:creationId xmlns:p14="http://schemas.microsoft.com/office/powerpoint/2010/main" val="888453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9880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30629921259845,&quot;left&quot;:45.63748031496063,&quot;top&quot;:203.08125984251967,&quot;width&quot;:623.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125196850394,&quot;left&quot;:486.57188976377955,&quot;top&quot;:163.70622047244095,&quot;width&quot;:610.856220472441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2907</TotalTime>
  <Words>1031</Words>
  <Application>Microsoft Office PowerPoint</Application>
  <PresentationFormat>Custom</PresentationFormat>
  <Paragraphs>176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Arial Black</vt:lpstr>
      <vt:lpstr>Sora Medium</vt:lpstr>
      <vt:lpstr>Arial</vt:lpstr>
      <vt:lpstr>Source Serif 4 Semi Bold</vt:lpstr>
      <vt:lpstr>Century Gothic</vt:lpstr>
      <vt:lpstr>Wingdings</vt:lpstr>
      <vt:lpstr>Inter Light</vt:lpstr>
      <vt:lpstr>Source Sans 3</vt:lpstr>
      <vt:lpstr>Inter Bold</vt:lpstr>
      <vt:lpstr>Arimo</vt:lpstr>
      <vt:lpstr>Noto Sans TC</vt:lpstr>
      <vt:lpstr>Wingdings 3</vt:lpstr>
      <vt:lpstr>SimSun</vt:lpstr>
      <vt:lpstr>Inter</vt:lpstr>
      <vt:lpstr>Calibri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Varunkumar Singh</dc:creator>
  <cp:lastModifiedBy>RAMCHARAN UPPADA</cp:lastModifiedBy>
  <cp:revision>20</cp:revision>
  <dcterms:created xsi:type="dcterms:W3CDTF">2025-11-13T15:53:00Z</dcterms:created>
  <dcterms:modified xsi:type="dcterms:W3CDTF">2025-11-24T17:04:05Z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955FF6280747480DAEE8859465DD0C1B_13</vt:lpwstr>
  </property>
  <property fmtid="{D5CDD505-2E9C-101B-9397-08002B2CF9AE}" pid="3" name="KSOProductBuildVer">
    <vt:lpwstr>1033-12.2.0.23155</vt:lpwstr>
  </property>
</Properties>
</file>